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Arimo" panose="020B0604020202020204" charset="0"/>
      <p:regular r:id="rId11"/>
    </p:embeddedFont>
    <p:embeddedFont>
      <p:font typeface="Outfit Extra Bold" panose="020B0604020202020204" charset="0"/>
      <p:regular r:id="rId12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9" autoAdjust="0"/>
    <p:restoredTop sz="94610"/>
  </p:normalViewPr>
  <p:slideViewPr>
    <p:cSldViewPr snapToGrid="0" snapToObjects="1">
      <p:cViewPr>
        <p:scale>
          <a:sx n="81" d="100"/>
          <a:sy n="81" d="100"/>
        </p:scale>
        <p:origin x="221" y="-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8402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pacy.io/usage/linguistic-features#named-entitie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github.com/urchade/GLiNER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flair/ner-english-fast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huggingface.co/flair/ner-english-large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platform.openai.com/docs/guides/function-calling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cloud.google.com/vertex-ai/generative-ai/docs/models/gemini-use-supervised-tuning" TargetMode="External"/><Relationship Id="rId4" Type="http://schemas.openxmlformats.org/officeDocument/2006/relationships/hyperlink" Target="https://ai.google.dev/gemini-API/docs/prompting-strategies#function-calling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005.11401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uggingface/neuralcoref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hyperlink" Target="https://github.com/wildwinter/fountain-tools" TargetMode="External"/><Relationship Id="rId4" Type="http://schemas.openxmlformats.org/officeDocument/2006/relationships/hyperlink" Target="https://wildwinter.medium.com/fountain-movie-script-parser-javascript-python-c-c-ca088d63d298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05442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Tools and Techniques for Script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77347"/>
            <a:ext cx="900755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1. Named Entity Recognition (NER)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83975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For: characters, locations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68462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SpaCy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265765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- Allows for incremental training, which helps mitigate catastrophic forgetting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195643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- </a:t>
            </a:r>
            <a:r>
              <a:rPr lang="en-US" sz="17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Tags:</a:t>
            </a: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PERSON, ORG, GPE (geo-political entity), LOC, PRODUCT, EVENT, WORK_OF_ART, LAW, LANGUAGE, DATE, TIME, PERCENT, MONEY, QUANTITY, ORDINAL, CARDINAL + customizable entities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85132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Sources</a:t>
            </a: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: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641830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u="sng" dirty="0">
                <a:solidFill>
                  <a:srgbClr val="5E4CE6"/>
                </a:solidFill>
                <a:latin typeface="Arimo" pitchFamily="34" charset="0"/>
                <a:ea typeface="Arimo" pitchFamily="34" charset="-122"/>
                <a:cs typeface="Arimo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https://spacy.io/usage/linguistic-features#named-entities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698527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u="sng" dirty="0">
                <a:solidFill>
                  <a:srgbClr val="5E4CE6"/>
                </a:solidFill>
                <a:latin typeface="Arimo" pitchFamily="34" charset="0"/>
                <a:ea typeface="Arimo" pitchFamily="34" charset="-122"/>
                <a:cs typeface="Arimo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https://github.com/urchade/GLiNER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268462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GLiNER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599521" y="3265765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- Can help maintain consistency in entity recognition throughout long-form narratives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4195643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- Its approach of using both local and global information creates more robust representations that are less susceptible to catastrophic forgetting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99521" y="5488424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- </a:t>
            </a:r>
            <a:r>
              <a:rPr lang="en-US" sz="17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Tags:</a:t>
            </a: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PERSON, LOCATION, ORGANIZATION, DATE, TIME, MONEY, PERCENT, FACILITY, PRODUCT, EVENT, WORK_OF_ART, LAW, LANGUAGE + custom entity types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26300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NER Tools: flair/ner-english-fast and flair/ner-english-large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584019"/>
            <a:ext cx="6408063" cy="2819162"/>
          </a:xfrm>
          <a:prstGeom prst="roundRect">
            <a:avLst>
              <a:gd name="adj" fmla="val 3379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1028224" y="3818453"/>
            <a:ext cx="286666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flair/ner-english-fast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4308872"/>
            <a:ext cx="59391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- Small size (~10-50M params) and LSTM-CRF architecture mean lower memory footprint and faster inference on CPU or modest GPUs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028224" y="5533668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- </a:t>
            </a:r>
            <a:r>
              <a:rPr lang="en-US" sz="17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Tags:</a:t>
            </a: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PER, LOC, ORG, MISC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667" y="3584019"/>
            <a:ext cx="6408063" cy="2819162"/>
          </a:xfrm>
          <a:prstGeom prst="roundRect">
            <a:avLst>
              <a:gd name="adj" fmla="val 3379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7663101" y="3818453"/>
            <a:ext cx="301883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flair/ner-english-large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63101" y="4308872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- Better accuracy, but heavier and longer inference time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663101" y="4807863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Sources: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663101" y="5306854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u="sng" dirty="0">
                <a:solidFill>
                  <a:srgbClr val="5E4CE6"/>
                </a:solidFill>
                <a:latin typeface="Arimo" pitchFamily="34" charset="0"/>
                <a:ea typeface="Arimo" pitchFamily="34" charset="-122"/>
                <a:cs typeface="Arimo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https://huggingface.co/flair/ner-english-fast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663101" y="5805845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u="sng" dirty="0">
                <a:solidFill>
                  <a:srgbClr val="5E4CE6"/>
                </a:solidFill>
                <a:latin typeface="Arimo" pitchFamily="34" charset="0"/>
                <a:ea typeface="Arimo" pitchFamily="34" charset="-122"/>
                <a:cs typeface="Arimo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https://huggingface.co/flair/ner-english-large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71724" y="846058"/>
            <a:ext cx="7555468" cy="611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2. Large Language Models (LLMs)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6171724" y="1751409"/>
            <a:ext cx="7773352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50"/>
              </a:lnSpc>
              <a:buNone/>
            </a:pPr>
            <a:r>
              <a:rPr lang="en-US" sz="1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For: context, relationships, and themes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171724" y="2505313"/>
            <a:ext cx="440531" cy="440531"/>
          </a:xfrm>
          <a:prstGeom prst="roundRect">
            <a:avLst>
              <a:gd name="adj" fmla="val 18668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6334720" y="2578656"/>
            <a:ext cx="114538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1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6807994" y="2505313"/>
            <a:ext cx="3111818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GPT-4 with function calling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807994" y="2928699"/>
            <a:ext cx="7137083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50"/>
              </a:lnSpc>
              <a:buNone/>
            </a:pPr>
            <a:r>
              <a:rPr lang="en-US" sz="1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- For structured JSON outputs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07994" y="3359468"/>
            <a:ext cx="7137083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50"/>
              </a:lnSpc>
              <a:buNone/>
            </a:pPr>
            <a:r>
              <a:rPr lang="en-US" sz="15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Technical specs: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807994" y="3790236"/>
            <a:ext cx="7137083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50"/>
              </a:lnSpc>
              <a:buNone/>
            </a:pPr>
            <a:r>
              <a:rPr lang="en-US" sz="1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- Context window: 128K tokens (~300 pages)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807994" y="4221004"/>
            <a:ext cx="7137083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50"/>
              </a:lnSpc>
              <a:buNone/>
            </a:pPr>
            <a:r>
              <a:rPr lang="en-US" sz="1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- Fine-tunable with optimized JSON schemas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807994" y="4651772"/>
            <a:ext cx="7137083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50"/>
              </a:lnSpc>
              <a:buNone/>
            </a:pPr>
            <a:r>
              <a:rPr lang="en-US" sz="1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- Model size: ~1.8 trillion parameters (estimated)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807994" y="5082540"/>
            <a:ext cx="7137083" cy="626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50"/>
              </a:lnSpc>
              <a:buNone/>
            </a:pPr>
            <a:r>
              <a:rPr lang="en-US" sz="1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- Addressing catastrophic forgetting: Parameter-efficient fine-tuning methods like LoRA (Low-Rank Adaptation) preserve most original model knowledge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807994" y="5826681"/>
            <a:ext cx="7137083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50"/>
              </a:lnSpc>
              <a:buNone/>
            </a:pPr>
            <a:r>
              <a:rPr lang="en-US" sz="1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- Pricing: $0.01/1K input tokens, $0.03/1K output tokens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807994" y="6257449"/>
            <a:ext cx="7137083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50"/>
              </a:lnSpc>
              <a:buNone/>
            </a:pPr>
            <a:r>
              <a:rPr lang="en-US" sz="15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Source</a:t>
            </a:r>
            <a:r>
              <a:rPr lang="en-US" sz="1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: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807994" y="6688217"/>
            <a:ext cx="7137083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OpenAI function calling documentation: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807994" y="7070050"/>
            <a:ext cx="7137083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450"/>
              </a:lnSpc>
              <a:buSzPct val="100000"/>
              <a:buChar char="•"/>
            </a:pPr>
            <a:r>
              <a:rPr lang="en-US" sz="1500" u="sng" dirty="0">
                <a:solidFill>
                  <a:srgbClr val="5E4CE6"/>
                </a:solidFill>
                <a:latin typeface="Arimo" pitchFamily="34" charset="0"/>
                <a:ea typeface="Arimo" pitchFamily="34" charset="-122"/>
                <a:cs typeface="Arimo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https://platform.openai.com/docs/guides/function-calling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1752" y="793313"/>
            <a:ext cx="4870371" cy="608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750"/>
              </a:lnSpc>
              <a:buNone/>
            </a:pPr>
            <a:r>
              <a:rPr lang="en-US" sz="38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Gemini 2.0 Flash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681752" y="1913334"/>
            <a:ext cx="438269" cy="438269"/>
          </a:xfrm>
          <a:prstGeom prst="roundRect">
            <a:avLst>
              <a:gd name="adj" fmla="val 18670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843796" y="1986320"/>
            <a:ext cx="114062" cy="292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1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314807" y="1913334"/>
            <a:ext cx="2435185" cy="304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Technical specs: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314807" y="2334458"/>
            <a:ext cx="7147441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50"/>
              </a:lnSpc>
              <a:buNone/>
            </a:pPr>
            <a:r>
              <a:rPr lang="en-US" sz="1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- Context window: 1,000,000 tokens (~2,500 pages)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14807" y="2762845"/>
            <a:ext cx="7147441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50"/>
              </a:lnSpc>
              <a:buNone/>
            </a:pPr>
            <a:r>
              <a:rPr lang="en-US" sz="1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- Fine-tunable with parameter-efficient methods like LoRA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314807" y="3191232"/>
            <a:ext cx="7147441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50"/>
              </a:lnSpc>
              <a:buNone/>
            </a:pPr>
            <a:r>
              <a:rPr lang="en-US" sz="1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- Model size: Likely in the trillion-parameter range (exact size not disclosed)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314807" y="3619619"/>
            <a:ext cx="7147441" cy="623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50"/>
              </a:lnSpc>
              <a:buNone/>
            </a:pPr>
            <a:r>
              <a:rPr lang="en-US" sz="1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- Addressing catastrophic forgetting: Parameter-efficient fine-tuning methods like LoRA (Low-Rank Adaptation) preserve most original model knowledge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314807" y="4359593"/>
            <a:ext cx="7147441" cy="623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50"/>
              </a:lnSpc>
              <a:buNone/>
            </a:pPr>
            <a:r>
              <a:rPr lang="en-US" sz="1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- Pricing: More cost-efficient than previous models, estimated ~$0.10–$0.15 per million tokens 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314807" y="5099566"/>
            <a:ext cx="7147441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50"/>
              </a:lnSpc>
              <a:buNone/>
            </a:pPr>
            <a:r>
              <a:rPr lang="en-US" sz="15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Sources: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314807" y="5527953"/>
            <a:ext cx="7147441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50"/>
              </a:lnSpc>
              <a:buNone/>
            </a:pPr>
            <a:r>
              <a:rPr lang="en-US" sz="1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Gemini API prompting strategies for function calling: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314807" y="5956340"/>
            <a:ext cx="7147441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50"/>
              </a:lnSpc>
              <a:buNone/>
            </a:pPr>
            <a:r>
              <a:rPr lang="en-US" sz="1500" u="sng" dirty="0">
                <a:solidFill>
                  <a:srgbClr val="5E4CE6"/>
                </a:solidFill>
                <a:latin typeface="Arimo" pitchFamily="34" charset="0"/>
                <a:ea typeface="Arimo" pitchFamily="34" charset="-122"/>
                <a:cs typeface="Arimo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https://ai.google.dev/gemini-API/docs/prompting-strategies#function-calling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314807" y="6384727"/>
            <a:ext cx="7147441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50"/>
              </a:lnSpc>
              <a:buNone/>
            </a:pPr>
            <a:r>
              <a:rPr lang="en-US" sz="1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Tune Gemini models by using supervised fine-tuning: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314807" y="6813113"/>
            <a:ext cx="7147441" cy="623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50"/>
              </a:lnSpc>
              <a:buNone/>
            </a:pPr>
            <a:r>
              <a:rPr lang="en-US" sz="1500" u="sng" dirty="0">
                <a:solidFill>
                  <a:srgbClr val="5E4CE6"/>
                </a:solidFill>
                <a:latin typeface="Arimo" pitchFamily="34" charset="0"/>
                <a:ea typeface="Arimo" pitchFamily="34" charset="-122"/>
                <a:cs typeface="Arimo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https://cloud.google.com/vertex-ai/generative-ai/docs/models/gemini-use-supervised-tuning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04380"/>
            <a:ext cx="1113996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3. Retrieval-Augmented Generation (RAG)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753320"/>
            <a:ext cx="6408063" cy="3771781"/>
          </a:xfrm>
          <a:prstGeom prst="roundRect">
            <a:avLst>
              <a:gd name="adj" fmla="val 2526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1028224" y="2987754"/>
            <a:ext cx="36102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LangChain Implementation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3478173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- Modular architecture for flexible retrieval pipelines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028224" y="3977164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- Supports multiple embedding models (OpenAI, HuggingFace, etc.)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667" y="2753320"/>
            <a:ext cx="6408063" cy="3771781"/>
          </a:xfrm>
          <a:prstGeom prst="roundRect">
            <a:avLst>
              <a:gd name="adj" fmla="val 2526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7663101" y="2987754"/>
            <a:ext cx="465605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Addressing catastrophic forgetting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63101" y="3478173"/>
            <a:ext cx="59391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RAG inherently helps with catastrophic forgetting by retrieving information rather than relying solely on model parameters.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663101" y="4702969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Source</a:t>
            </a: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: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663101" y="5201960"/>
            <a:ext cx="59391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Retrieval-Augmented Generation for Knowledge-Intensive NLP Tasks (</a:t>
            </a:r>
            <a:r>
              <a:rPr lang="en-US" sz="1750" u="sng" dirty="0">
                <a:solidFill>
                  <a:srgbClr val="5E4CE6"/>
                </a:solidFill>
                <a:latin typeface="Arimo" pitchFamily="34" charset="0"/>
                <a:ea typeface="Arimo" pitchFamily="34" charset="-122"/>
                <a:cs typeface="Arimo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https://arxiv.org/abs/2005.11401</a:t>
            </a: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)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53597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4. Knowledge Graphs and 5. Proposed Architecture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1381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Knowledge Graphs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719274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For relationships between characters, locations, and plot points in a structured, queryable format.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64915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Implementation options: Neo4j, NetworkX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3138130"/>
            <a:ext cx="298251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Proposed Architecture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99521" y="3719274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- Initial Processing: Use one of the NER models to identify characters and locations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4649153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- Structured Extraction: Fine-tuned LLM with function calling for consistent JSON outputs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557903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- Storage: Knowledge graph to represent relationships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6146006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- Retrieval: Langchain to maintain consistency across long scripts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51059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6. Coreference Resolution and 7. Fountain Format Script Parsing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608778"/>
            <a:ext cx="6408063" cy="4769763"/>
          </a:xfrm>
          <a:prstGeom prst="roundRect">
            <a:avLst>
              <a:gd name="adj" fmla="val 1997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1028224" y="2843213"/>
            <a:ext cx="478667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Coreference Resolution: neuralcoref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3333631"/>
            <a:ext cx="593919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neuralcoref is a spaCy extension for coreference resolution, using neural networks to link text references (like pronouns) to entities. It's production-ready, includes a pre-trained English model, and offers visualization tools and an online demo.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028224" y="5284232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Source: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028224" y="5783223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u="sng" dirty="0">
                <a:solidFill>
                  <a:srgbClr val="5E4CE6"/>
                </a:solidFill>
                <a:latin typeface="Arimo" pitchFamily="34" charset="0"/>
                <a:ea typeface="Arimo" pitchFamily="34" charset="-122"/>
                <a:cs typeface="Arimo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https://github.com/huggingface/neuralcoref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667" y="2608778"/>
            <a:ext cx="6408063" cy="4769763"/>
          </a:xfrm>
          <a:prstGeom prst="roundRect">
            <a:avLst>
              <a:gd name="adj" fmla="val 1997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7663101" y="2843213"/>
            <a:ext cx="413385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Fountain Format Script Parsing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663101" y="3333631"/>
            <a:ext cx="59391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Fountain is a simple plaintext format for movie and TV scripts. It's also used as an export and import format by multiple script-writing apps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663101" y="4558427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fountain-tools is a set of libraries for parsing the Fountain script-writing language.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663101" y="5420320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Sources: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663101" y="5919311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u="sng" dirty="0">
                <a:solidFill>
                  <a:srgbClr val="5E4CE6"/>
                </a:solidFill>
                <a:latin typeface="Arimo" pitchFamily="34" charset="0"/>
                <a:ea typeface="Arimo" pitchFamily="34" charset="-122"/>
                <a:cs typeface="Arimo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https://wildwinter.medium.com/fountain-movie-script-parser-javascript-python-c-c-ca088d63d298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663101" y="6781205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u="sng" dirty="0">
                <a:solidFill>
                  <a:srgbClr val="5E4CE6"/>
                </a:solidFill>
                <a:latin typeface="Arimo" pitchFamily="34" charset="0"/>
                <a:ea typeface="Arimo" pitchFamily="34" charset="-122"/>
                <a:cs typeface="Arimo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https://github.com/wildwinter/fountain-tools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762</Words>
  <Application>Microsoft Office PowerPoint</Application>
  <PresentationFormat>Personnalisé</PresentationFormat>
  <Paragraphs>85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Arimo</vt:lpstr>
      <vt:lpstr>Outfit Extra Bold</vt:lpstr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Zineb ABERCHA</cp:lastModifiedBy>
  <cp:revision>2</cp:revision>
  <dcterms:created xsi:type="dcterms:W3CDTF">2025-02-26T18:04:47Z</dcterms:created>
  <dcterms:modified xsi:type="dcterms:W3CDTF">2025-02-26T21:16:41Z</dcterms:modified>
</cp:coreProperties>
</file>